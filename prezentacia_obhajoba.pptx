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(~10 s) Dobrý deň, volám sa Filip Jamrich a predstavím svoju bakalársku prácu Aplikácia interného systému — modulárny interný informačný systém pre malé a stredné podniky.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(~50 s) Malé a stredné podniky dnes spravujú projekty, vykázaný čas a kapacity v oddelených nástrojoch, ktoré spolu nekomunikujú. Chýba prepojenie medzi úlohou, reálne odpracovaným časom a dostupnou kapacitou tímu — manažér nemá jednotný pohľad na to, či je projekt realisticky naplánovaný. Práve túto medzeru práca rieši. Nezdržím sa pri tom dlho.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(~40 s) Cieľom bolo navrhnúť a implementovať modulárny interný systém, ktorý prepája tri hlavné oblasti — projektový manažment, evidenciu času a kapacitné plánovanie — nad spoločnými dátami, doplnené o správu používateľov. Jadrom prínosu je práve to prepojenie, k tomu sa dostanem.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(~60 s) Porovnal som šesť rozšírených nástrojov podľa štyroch sledovaných oblastí a ceny. Projektové nástroje pokrývajú úlohy a spoluprácu, ale evidencia času a kapacity bývajú len čiastočné. Komplexný ERP Odoo pokrýva všetko, no za cenu zložitosti a nákladov nad rámec potrieb menšieho podniku. Z toho vyplynuli požiadavky na náš systém.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(~45 s) Z analýzy som odvodil deväť funkcionálnych a päť nefunkcionálnych požiadaviek. Nebudem ich čítať všetky — podstatný je diferenciátor oproti existujúcim nástrojom: že vykázaný čas sa premieta do úloh, alokácií aj kapacitných výpočtov. Z nefunkcionálnych som kládol dôraz najmä na modularitu a rozšíriteľnosť.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(~75 s) Systém je vrstvený monolit s modulárnym vnútrom — moduly sú samostatné balíky a komunikujú cez rozhrania a dependency injection, takže sú voľne previazané. Pre menší systém je monolit výhodnejší než mikroslužby kvôli jednoduchšiemu nasadeniu a prevádzke. Použil som React, Tailwind, Inertiu, Laravel a PostgreSQL, celé kontajnerizované v Dockeri. Dôležité je, že Inertia spája klienta a server bez samostatného REST API — k tomu sa vrátim pri otázke oponenta.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(~40 s) Dátový model stojí na troch jadrových entitách — používatelia, projekty a úlohy. Nad nimi stavajú jednotlivé moduly: projektový tím a alokácie, časové záznamy a týždenné kapacity. Zvolil som relačnú databázu, pretože pri týchto pevných väzbách je dôležitá integrita dát.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(~60 s) Prvý modul je projektový manažment — projekty, úlohy, podúlohy, Kanban a komentáre so zmienkami a prílohami. Prístup riešim na úrovni projektu: vlastník má všetky práva, ostatní podľa konkrétnych projektových oprávnení — bez umelej roly manažéra. Tento modul je zároveň zdrojom dát pre evidenciu času aj kapacity.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(~75 s) Druhý modul je srdcom práce. Čas sa eviduje manuálne alebo časovačom a prechádza schvaľovacím tokom. Podstatné nie je len uloženie záznamu, ale synchronizácia: každý záznam prepočíta skutočne odpracované hodiny na úlohe a využitú kapacitu v projektovej alokácii, a pri prekročení odhadu vznikne notifikácia. Takto vykázaný čas nie je izolovaný — premieta sa do úloh aj kapacít. Nad záznamami sú manažérske výkazy v troch pohľadoch s exportom do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(~75 s) Tretí modul stavia nad alokáciami a evidovaným časom. Základná metrika je vyťaženie — pomer záťaže a dostupnej kapacity — podľa ktorej systém farebne označí dostupných, hranične vyťažených a preťažených ľudí a identifikuje kapacitne rizikové projekty. Súčasťou je what-if simulácia: manažér mení veľkosť tímu, termín alebo zostávajúcu prácu a vidí burn-down a predpokladaný dátum dokončenia. Pri simulácii zámerne pracujem s priemernou kapacitou — to je téma jednej z otázok oponenta.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(~45 s) Nad modulmi sú tri prierezové súčasti: manažérske rozhranie so schvaľovaniami a prehľadom tímu, globálne vyhľadávanie s rýchlymi akciami a notifikačná služba. Dôležité je, že všetky vznikli bez pridania nového doménového modulu, len kombináciou existujúcich dát a kontroly oprávnení — čo prakticky potvrdilo rozšíriteľnosť architektúry.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(~60 s) Správnosť som overoval kombináciou automatizovaných a manuálnych testov — spolu 486 testov a vyše 1400 kontrol, vrátane integračných testov prepojenia modulov a manuálneho prechodu hlavných scenárov aj s alternatívnymi vetvami. Výkon som overil orientačne pre jedného používateľa pod 500 ms; čestne uvádzam, že nešlo o záťažový test súbežnej prevádzky. Všetky funkcionálne požiadavky sa podarilo splniť.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(~45 s) Na záver — výsledkom je funkčný modulárny prototyp, ktorý v jednej aplikácii prepája úlohy, reálne vykázaný čas a kapacitu tímu, dáva manažérom prehľad o vyťažení a kapacitných rizikách a umožňuje simuláciu scenárov. Architektúra je čistá a rozšíriteľná a riešenie je dôkladne otestované. Ďakujem za pozornosť.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(prepínacie) Toto sú pripravené odpovede na pripomienky oponenta — otváram ich podľa otázok v diskusii.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Odpoveď: kritériá z tabuľky 3, ktoré React nemá vstavané — smerovanie a formuláre — sme zámerne presunuli na server cez Inertiu. Smerovanie, validácia aj autorizácia zostávajú v Laraveli, takže to nie je nevýhoda, naopak sa vyhneme duplicite a samostatnému REST API. Vue či Angular s vlastným routerom by sa prekrývali s tým, čo už dáva Laravel. React som volil pre ekosystém, oficiálny Inertia adaptér a kompatibilitu so shadcn/ui. Tabuľka hodnotí knižnice izolovane — reálnym kritériom bola vhodnosť do zvoleného hybridného stacku.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Odpoveď: požiadavky vychádzali z modelového podniku, takže overenie by viedlo cez pilotné nasadenie u reálneho MSP na niekoľko týždňov. Zbieral by som štruktúrovanú spätnú väzbu — rozhovory, dotazník použiteľnosti SUS a pozorovanie typických úloh — a porovnal predpoklady modelu so skutočnými procesmi. Prínos by som meral úsporou času, poklesom duplicity dát a mierou adopcie. Na generalizáciu by pomohli rozhovory s viacerými podnikmi a modulárna architektúra umožňuje rýchlo doplniť, čo by chýbalo.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Odpoveď: súhlasím — simulácia dnes škáluje kapacitu priemerom na osobu, je to zámerné zjednodušenie. Prvý krok rozšírenia je sčítať reálne týždenné kapacity konkrétnych členov z tabuľky Employee_Capacities; metódu na príspevok jednej alokácie už mám. Druhý krok je odpočítať ich alokácie na iných projektoch — logiku na prekryv alokačných okien s časovým oknom už mám v kalkulátore. Ďalej by sa dala doplniť časovo premenná dostupnosť cez kalendár a váženie podľa rolí. Podstatné je, že väčšina zmien je v logike kalkulátora, nie v dátovom modeli — ten to už podporuje.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Odpoveď: oponent má pravdu — diagram obrázka 8 nezodpovedá implementácii. Reálna schéma aj text práce používajú stĺpce status, approved_by, approved_at a rejection_reason, čo je overiteľné v migrácii. Nesúlad je teda len v zastaranej verzii diagramu; implementácia aj textový opis sú konzistentné a správne. Diagram pri finalizácii opravím.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Doplňujúci slajd k testovaniu, ak príde otázka na rozsah a typy testov.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Doplňujúci slajd k architektúre, ak príde otázka na previazanosť a komunikáciu modulov.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TU-FEI-nf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5120640" cy="11212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2937"/>
                </a:solidFill>
                <a:latin typeface="Calibri"/>
              </a:rPr>
              <a:t>Aplikácia interného systému</a:t>
            </a:r>
          </a:p>
          <a:p>
            <a:pPr>
              <a:spcBef>
                <a:spcPts val="600"/>
              </a:spcBef>
            </a:pPr>
            <a:r>
              <a:rPr sz="1800" b="0">
                <a:solidFill>
                  <a:srgbClr val="5B6670"/>
                </a:solidFill>
                <a:latin typeface="Calibri"/>
              </a:rPr>
              <a:t>Modulárny interný informačný systém pre malé a stredné podniky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1B4F9C"/>
                </a:solidFill>
                <a:latin typeface="Calibri"/>
              </a:rPr>
              <a:t>Bakalárska práca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Calibri"/>
              </a:rPr>
              <a:t>Filip Jamrich</a:t>
            </a:r>
          </a:p>
          <a:p>
            <a:r>
              <a:rPr sz="1400" b="0">
                <a:solidFill>
                  <a:srgbClr val="5B6670"/>
                </a:solidFill>
                <a:latin typeface="Calibri"/>
              </a:rPr>
              <a:t>Školiteľ: Ing. Ján Šefčík, PhD.</a:t>
            </a:r>
          </a:p>
          <a:p>
            <a:r>
              <a:rPr sz="1400" b="0">
                <a:solidFill>
                  <a:srgbClr val="5B6670"/>
                </a:solidFill>
                <a:latin typeface="Calibri"/>
              </a:rPr>
              <a:t>FEI STU v Bratislave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Motivácia a problém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MSP používajú </a:t>
            </a:r>
            <a:r>
              <a:rPr sz="1800" b="1">
                <a:solidFill>
                  <a:srgbClr val="1F2937"/>
                </a:solidFill>
                <a:latin typeface="Calibri"/>
              </a:rPr>
              <a:t>rozptýlené, neprepojené nástroje</a:t>
            </a:r>
            <a:r>
              <a:rPr sz="1800" b="0">
                <a:solidFill>
                  <a:srgbClr val="1F2937"/>
                </a:solidFill>
                <a:latin typeface="Calibri"/>
              </a:rPr>
              <a:t> (tabuľky, e-mail, samostatné time-trackery)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Slabé prepojenie: </a:t>
            </a:r>
            <a:r>
              <a:rPr sz="1800" b="1">
                <a:solidFill>
                  <a:srgbClr val="1F2937"/>
                </a:solidFill>
                <a:latin typeface="Calibri"/>
              </a:rPr>
              <a:t>úloha ↔ vykázaný čas ↔ kapacita tímu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Manažér nemá </a:t>
            </a:r>
            <a:r>
              <a:rPr sz="1800" b="1">
                <a:solidFill>
                  <a:srgbClr val="1F2937"/>
                </a:solidFill>
                <a:latin typeface="Calibri"/>
              </a:rPr>
              <a:t>jednotný a včasný pohľad</a:t>
            </a:r>
            <a:r>
              <a:rPr sz="1800" b="0">
                <a:solidFill>
                  <a:srgbClr val="1F2937"/>
                </a:solidFill>
                <a:latin typeface="Calibri"/>
              </a:rPr>
              <a:t> na stav projektu a vyťaženie tímu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Dôsledky: </a:t>
            </a:r>
            <a:r>
              <a:rPr sz="1800" b="1">
                <a:solidFill>
                  <a:srgbClr val="1F2937"/>
                </a:solidFill>
                <a:latin typeface="Calibri"/>
              </a:rPr>
              <a:t>duplicita dát, neaktuálne informácie, slabá kontrola kapacít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Schéma: roztrieštené nástroje → jeden systém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Motivácia a problém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Cieľ práce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Navrhnúť a implementovať </a:t>
            </a:r>
            <a:r>
              <a:rPr sz="1800" b="1">
                <a:solidFill>
                  <a:srgbClr val="1F2937"/>
                </a:solidFill>
                <a:latin typeface="Calibri"/>
              </a:rPr>
              <a:t>modulárny interný informačný systém</a:t>
            </a:r>
            <a:r>
              <a:rPr sz="1800" b="0">
                <a:solidFill>
                  <a:srgbClr val="1F2937"/>
                </a:solidFill>
                <a:latin typeface="Calibri"/>
              </a:rPr>
              <a:t> pre MSP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Tri doménové moduly: </a:t>
            </a:r>
            <a:r>
              <a:rPr sz="1800" b="1">
                <a:solidFill>
                  <a:srgbClr val="1F2937"/>
                </a:solidFill>
                <a:latin typeface="Calibri"/>
              </a:rPr>
              <a:t>projektový manažment, evidencia času, kapacitné plánovanie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Doplnené modulom </a:t>
            </a:r>
            <a:r>
              <a:rPr sz="1800" b="1">
                <a:solidFill>
                  <a:srgbClr val="1F2937"/>
                </a:solidFill>
                <a:latin typeface="Calibri"/>
              </a:rPr>
              <a:t>správy používateľov</a:t>
            </a:r>
            <a:r>
              <a:rPr sz="1800" b="0">
                <a:solidFill>
                  <a:srgbClr val="1F2937"/>
                </a:solidFill>
                <a:latin typeface="Calibri"/>
              </a:rPr>
              <a:t> (autentifikácia, autorizácia, prístupy)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Výsledok: </a:t>
            </a:r>
            <a:r>
              <a:rPr sz="1800" b="1">
                <a:solidFill>
                  <a:srgbClr val="1F2937"/>
                </a:solidFill>
                <a:latin typeface="Calibri"/>
              </a:rPr>
              <a:t>funkčný, rozšíriteľný prototyp</a:t>
            </a:r>
            <a:r>
              <a:rPr sz="1800" b="0">
                <a:solidFill>
                  <a:srgbClr val="1F2937"/>
                </a:solidFill>
                <a:latin typeface="Calibri"/>
              </a:rPr>
              <a:t>, ktorý možno ďalej rozvíjať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Cieľ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Analýza existujúcich riešení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Porovnané: </a:t>
            </a:r>
            <a:r>
              <a:rPr sz="1800" b="1">
                <a:solidFill>
                  <a:srgbClr val="1F2937"/>
                </a:solidFill>
                <a:latin typeface="Calibri"/>
              </a:rPr>
              <a:t>ClickUp, Asana, Trello, Jira, Clockify, Odoo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Žiadny</a:t>
            </a:r>
            <a:r>
              <a:rPr sz="1800" b="0">
                <a:solidFill>
                  <a:srgbClr val="1F2937"/>
                </a:solidFill>
                <a:latin typeface="Calibri"/>
              </a:rPr>
              <a:t> nepokrýva všetky štyri oblasti naraz v zložitosti a cene primeranej MSP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Odoo pokrýva všetko, ale za cenu </a:t>
            </a:r>
            <a:r>
              <a:rPr sz="1800" b="1">
                <a:solidFill>
                  <a:srgbClr val="1F2937"/>
                </a:solidFill>
                <a:latin typeface="Calibri"/>
              </a:rPr>
              <a:t>vyššej komplexnosti a nákladov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→ priestor pre </a:t>
            </a:r>
            <a:r>
              <a:rPr sz="1800" b="1">
                <a:solidFill>
                  <a:srgbClr val="1F2937"/>
                </a:solidFill>
                <a:latin typeface="Calibri"/>
              </a:rPr>
              <a:t>vlastné, jednoduchšie a prepojené riešenie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Tabuľka 2 — porovnanie nástrojov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Analýza existujúcich riešení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Funkcionálne a nefunkcionálne požiadavky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Funkcionálne (9):</a:t>
            </a:r>
            <a:r>
              <a:rPr sz="1800" b="0">
                <a:solidFill>
                  <a:srgbClr val="1F2937"/>
                </a:solidFill>
                <a:latin typeface="Calibri"/>
              </a:rPr>
              <a:t> používatelia, projekty, úlohy, evidencia času, kapacity, notifikácie, manažérske rozhranie + schvaľovanie, výkazy, globálne vyhľadávanie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Nefunkcionálne (5):</a:t>
            </a:r>
            <a:r>
              <a:rPr sz="1800" b="0">
                <a:solidFill>
                  <a:srgbClr val="1F2937"/>
                </a:solidFill>
                <a:latin typeface="Calibri"/>
              </a:rPr>
              <a:t> bezpečnosť, použiteľnosť, udržiavateľnosť a rozšíriteľnosť, testovateľnosť, výkonnosť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Kľúčový diferenciátor: </a:t>
            </a:r>
            <a:r>
              <a:rPr sz="1800" b="1">
                <a:solidFill>
                  <a:srgbClr val="1F2937"/>
                </a:solidFill>
                <a:latin typeface="Calibri"/>
              </a:rPr>
              <a:t>prepojenie čas → úlohy → alokácie → kapacita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Funkcionálne a nefunkcionálne požiadavky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Architektúra systému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Vrstvená monolitická</a:t>
            </a:r>
            <a:r>
              <a:rPr sz="1800" b="0">
                <a:solidFill>
                  <a:srgbClr val="1F2937"/>
                </a:solidFill>
                <a:latin typeface="Calibri"/>
              </a:rPr>
              <a:t> architektúra: prezentačná / aplikačná / dátová vrstva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Modulárne</a:t>
            </a:r>
            <a:r>
              <a:rPr sz="1800" b="0">
                <a:solidFill>
                  <a:srgbClr val="1F2937"/>
                </a:solidFill>
                <a:latin typeface="Calibri"/>
              </a:rPr>
              <a:t> členenie (nwidart/laravel-modules), komunikácia cez </a:t>
            </a:r>
            <a:r>
              <a:rPr sz="1800" b="1">
                <a:solidFill>
                  <a:srgbClr val="1F2937"/>
                </a:solidFill>
                <a:latin typeface="Calibri"/>
              </a:rPr>
              <a:t>rozhrania + DI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Stack: </a:t>
            </a:r>
            <a:r>
              <a:rPr sz="1800" b="1">
                <a:solidFill>
                  <a:srgbClr val="1F2937"/>
                </a:solidFill>
                <a:latin typeface="Calibri"/>
              </a:rPr>
              <a:t>React + Tailwind + Inertia.js + Laravel + PostgreSQL</a:t>
            </a:r>
            <a:r>
              <a:rPr sz="1800" b="0">
                <a:solidFill>
                  <a:srgbClr val="1F2937"/>
                </a:solidFill>
                <a:latin typeface="Calibri"/>
              </a:rPr>
              <a:t>, kontajnerizácia </a:t>
            </a:r>
            <a:r>
              <a:rPr sz="1800" b="1">
                <a:solidFill>
                  <a:srgbClr val="1F2937"/>
                </a:solidFill>
                <a:latin typeface="Calibri"/>
              </a:rPr>
              <a:t>Docker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Inertia.js = most klient–server </a:t>
            </a:r>
            <a:r>
              <a:rPr sz="1800" b="1">
                <a:solidFill>
                  <a:srgbClr val="1F2937"/>
                </a:solidFill>
                <a:latin typeface="Calibri"/>
              </a:rPr>
              <a:t>bez samostatného REST API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Monolit zvolený zámerne — jednoduchšie nasadenie a prevádzka pre MSP (Tab.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1 / Obr. 11 — vrstvy a moduly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Architektúra systému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Dátový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Spoločné jadro: </a:t>
            </a:r>
            <a:r>
              <a:rPr sz="1800" b="1">
                <a:solidFill>
                  <a:srgbClr val="1F2937"/>
                </a:solidFill>
                <a:latin typeface="Calibri"/>
              </a:rPr>
              <a:t>Users, Projects, Tasks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Moduly nadväzujú: </a:t>
            </a:r>
            <a:r>
              <a:rPr sz="1800" b="1">
                <a:solidFill>
                  <a:srgbClr val="1F2937"/>
                </a:solidFill>
                <a:latin typeface="Calibri"/>
              </a:rPr>
              <a:t>Project_Team, Project_Allocations, Time_Entries, Employee_Capacities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Relačná databáza PostgreSQL</a:t>
            </a:r>
            <a:r>
              <a:rPr sz="1800" b="0">
                <a:solidFill>
                  <a:srgbClr val="1F2937"/>
                </a:solidFill>
                <a:latin typeface="Calibri"/>
              </a:rPr>
              <a:t> — integrita a väzby medzi entitami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6 — jadro Users / Projects / Tasks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Dátový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Modul 1 — Projektový manažment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Projekty, úlohy, </a:t>
            </a:r>
            <a:r>
              <a:rPr sz="1800" b="1">
                <a:solidFill>
                  <a:srgbClr val="1F2937"/>
                </a:solidFill>
                <a:latin typeface="Calibri"/>
              </a:rPr>
              <a:t>podúlohy</a:t>
            </a:r>
            <a:r>
              <a:rPr sz="1800" b="0">
                <a:solidFill>
                  <a:srgbClr val="1F2937"/>
                </a:solidFill>
                <a:latin typeface="Calibri"/>
              </a:rPr>
              <a:t>; </a:t>
            </a:r>
            <a:r>
              <a:rPr sz="1800" b="1">
                <a:solidFill>
                  <a:srgbClr val="1F2937"/>
                </a:solidFill>
                <a:latin typeface="Calibri"/>
              </a:rPr>
              <a:t>Kanban</a:t>
            </a:r>
            <a:r>
              <a:rPr sz="1800" b="0">
                <a:solidFill>
                  <a:srgbClr val="1F2937"/>
                </a:solidFill>
                <a:latin typeface="Calibri"/>
              </a:rPr>
              <a:t> pohľad na tok práce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Komentáre so </a:t>
            </a:r>
            <a:r>
              <a:rPr sz="1800" b="1">
                <a:solidFill>
                  <a:srgbClr val="1F2937"/>
                </a:solidFill>
                <a:latin typeface="Calibri"/>
              </a:rPr>
              <a:t>zmienkami (@) a prílohami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Projektové oprávnenia</a:t>
            </a:r>
            <a:r>
              <a:rPr sz="1800" b="0">
                <a:solidFill>
                  <a:srgbClr val="1F2937"/>
                </a:solidFill>
                <a:latin typeface="Calibri"/>
              </a:rPr>
              <a:t> (vlastník / view_all / členské) — metóda userHasPermission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Centrálny </a:t>
            </a:r>
            <a:r>
              <a:rPr sz="1800" b="1">
                <a:solidFill>
                  <a:srgbClr val="1F2937"/>
                </a:solidFill>
                <a:latin typeface="Calibri"/>
              </a:rPr>
              <a:t>zdroj dát</a:t>
            </a:r>
            <a:r>
              <a:rPr sz="1800" b="0">
                <a:solidFill>
                  <a:srgbClr val="1F2937"/>
                </a:solidFill>
                <a:latin typeface="Calibri"/>
              </a:rPr>
              <a:t> o projektoch, úlohách, tímoch a alokáciách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14 / 15 — detail projektu / Kanban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Modul 1 — Projektový manažment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Modul 2 — Evidencia času  (jadro prínosu)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Manuálny záznam </a:t>
            </a:r>
            <a:r>
              <a:rPr sz="1800" b="1">
                <a:solidFill>
                  <a:srgbClr val="1F2937"/>
                </a:solidFill>
                <a:latin typeface="Calibri"/>
              </a:rPr>
              <a:t>aj časovač</a:t>
            </a:r>
            <a:r>
              <a:rPr sz="1800" b="0">
                <a:solidFill>
                  <a:srgbClr val="1F2937"/>
                </a:solidFill>
                <a:latin typeface="Calibri"/>
              </a:rPr>
              <a:t>; </a:t>
            </a:r>
            <a:r>
              <a:rPr sz="1800" b="1">
                <a:solidFill>
                  <a:srgbClr val="1F2937"/>
                </a:solidFill>
                <a:latin typeface="Calibri"/>
              </a:rPr>
              <a:t>schvaľovací tok</a:t>
            </a:r>
            <a:r>
              <a:rPr sz="1800" b="0">
                <a:solidFill>
                  <a:srgbClr val="1F2937"/>
                </a:solidFill>
                <a:latin typeface="Calibri"/>
              </a:rPr>
              <a:t> (pending → approved/rejected), aj hromadne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Synchronizácia:</a:t>
            </a:r>
            <a:r>
              <a:rPr sz="1800" b="0">
                <a:solidFill>
                  <a:srgbClr val="1F2937"/>
                </a:solidFill>
                <a:latin typeface="Calibri"/>
              </a:rPr>
              <a:t> záznam prepočíta </a:t>
            </a:r>
            <a:r>
              <a:rPr sz="1800" b="1">
                <a:solidFill>
                  <a:srgbClr val="1F2937"/>
                </a:solidFill>
                <a:latin typeface="Calibri"/>
              </a:rPr>
              <a:t>actual_hours</a:t>
            </a:r>
            <a:r>
              <a:rPr sz="1800" b="0">
                <a:solidFill>
                  <a:srgbClr val="1F2937"/>
                </a:solidFill>
                <a:latin typeface="Calibri"/>
              </a:rPr>
              <a:t> na úlohe a </a:t>
            </a:r>
            <a:r>
              <a:rPr sz="1800" b="1">
                <a:solidFill>
                  <a:srgbClr val="1F2937"/>
                </a:solidFill>
                <a:latin typeface="Calibri"/>
              </a:rPr>
              <a:t>used_hours</a:t>
            </a:r>
            <a:r>
              <a:rPr sz="1800" b="0">
                <a:solidFill>
                  <a:srgbClr val="1F2937"/>
                </a:solidFill>
                <a:latin typeface="Calibri"/>
              </a:rPr>
              <a:t> v alokácii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Prekročenie odhadu → automatická </a:t>
            </a:r>
            <a:r>
              <a:rPr sz="1800" b="1">
                <a:solidFill>
                  <a:srgbClr val="1F2937"/>
                </a:solidFill>
                <a:latin typeface="Calibri"/>
              </a:rPr>
              <a:t>notifikácia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Výkazy v </a:t>
            </a:r>
            <a:r>
              <a:rPr sz="1800" b="1">
                <a:solidFill>
                  <a:srgbClr val="1F2937"/>
                </a:solidFill>
                <a:latin typeface="Calibri"/>
              </a:rPr>
              <a:t>3 pohľadoch</a:t>
            </a:r>
            <a:r>
              <a:rPr sz="1800" b="0">
                <a:solidFill>
                  <a:srgbClr val="1F2937"/>
                </a:solidFill>
                <a:latin typeface="Calibri"/>
              </a:rPr>
              <a:t> (osoba / projekt / časová os) + </a:t>
            </a:r>
            <a:r>
              <a:rPr sz="1800" b="1">
                <a:solidFill>
                  <a:srgbClr val="1F2937"/>
                </a:solidFill>
                <a:latin typeface="Calibri"/>
              </a:rPr>
              <a:t>export CSV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16 — evidencia času + Výpis 3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Modul 2 — Evidencia času  (jadro prínosu)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Modul 3 — Kapacitné plánovanie  (jadro prínosu)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Metrika </a:t>
            </a:r>
            <a:r>
              <a:rPr sz="1800" b="1">
                <a:solidFill>
                  <a:srgbClr val="1F2937"/>
                </a:solidFill>
                <a:latin typeface="Calibri"/>
              </a:rPr>
              <a:t>vyťaženia</a:t>
            </a:r>
            <a:r>
              <a:rPr sz="1800" b="0">
                <a:solidFill>
                  <a:srgbClr val="1F2937"/>
                </a:solidFill>
                <a:latin typeface="Calibri"/>
              </a:rPr>
              <a:t>:  U = L / Cᵤ · 100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Stavy:  </a:t>
            </a:r>
            <a:r>
              <a:rPr sz="1800" b="1">
                <a:solidFill>
                  <a:srgbClr val="1F2937"/>
                </a:solidFill>
                <a:latin typeface="Calibri"/>
              </a:rPr>
              <a:t>green &lt; 80 %  ≤  orange ≤ 100 %  &lt;  red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Identifikácia </a:t>
            </a:r>
            <a:r>
              <a:rPr sz="1800" b="1">
                <a:solidFill>
                  <a:srgbClr val="1F2937"/>
                </a:solidFill>
                <a:latin typeface="Calibri"/>
              </a:rPr>
              <a:t>preťažených ľudí, voľných kapacít, kapacitne rizikových projektov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What-if simulácia:</a:t>
            </a:r>
            <a:r>
              <a:rPr sz="1800" b="0">
                <a:solidFill>
                  <a:srgbClr val="1F2937"/>
                </a:solidFill>
                <a:latin typeface="Calibri"/>
              </a:rPr>
              <a:t> zmena tímu / termínu / zostávajúcej práce → </a:t>
            </a:r>
            <a:r>
              <a:rPr sz="1800" b="1">
                <a:solidFill>
                  <a:srgbClr val="1F2937"/>
                </a:solidFill>
                <a:latin typeface="Calibri"/>
              </a:rPr>
              <a:t>burn-down + predikcia dokončenia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18 — simulácia / burn-down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Modul 3 — Kapacitné plánovanie  (jadro prínosu)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Prierezové súčasti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Manažérske rozhranie /manager:</a:t>
            </a:r>
            <a:r>
              <a:rPr sz="1800" b="0">
                <a:solidFill>
                  <a:srgbClr val="1F2937"/>
                </a:solidFill>
                <a:latin typeface="Calibri"/>
              </a:rPr>
              <a:t> schvaľovania, vyťaženie tímu, ohrozené projekty, omeškané úlohy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Riadené </a:t>
            </a:r>
            <a:r>
              <a:rPr sz="1800" b="1">
                <a:solidFill>
                  <a:srgbClr val="1F2937"/>
                </a:solidFill>
                <a:latin typeface="Calibri"/>
              </a:rPr>
              <a:t>oprávneniami</a:t>
            </a:r>
            <a:r>
              <a:rPr sz="1800" b="0">
                <a:solidFill>
                  <a:srgbClr val="1F2937"/>
                </a:solidFill>
                <a:latin typeface="Calibri"/>
              </a:rPr>
              <a:t>, nie umelou rolou manažéra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Globálne vyhľadávanie (Ctrl/Cmd+K)</a:t>
            </a:r>
            <a:r>
              <a:rPr sz="1800" b="0">
                <a:solidFill>
                  <a:srgbClr val="1F2937"/>
                </a:solidFill>
                <a:latin typeface="Calibri"/>
              </a:rPr>
              <a:t> + rýchle akcie filtrované podľa oprávnení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Notifikačná služba</a:t>
            </a:r>
            <a:r>
              <a:rPr sz="1800" b="0">
                <a:solidFill>
                  <a:srgbClr val="1F2937"/>
                </a:solidFill>
                <a:latin typeface="Calibri"/>
              </a:rPr>
              <a:t> naprieč modulmi — vznikli </a:t>
            </a:r>
            <a:r>
              <a:rPr sz="1800" b="1">
                <a:solidFill>
                  <a:srgbClr val="1F2937"/>
                </a:solidFill>
                <a:latin typeface="Calibri"/>
              </a:rPr>
              <a:t>bez nového doménového modulu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19 / 20 — manažérsky prehľad / vyhľadávanie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Prierezové súčasti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Výsledky a testovanie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486 automatizovaných testov / 1413 kontrol</a:t>
            </a:r>
            <a:r>
              <a:rPr sz="1800" b="0">
                <a:solidFill>
                  <a:srgbClr val="1F2937"/>
                </a:solidFill>
                <a:latin typeface="Calibri"/>
              </a:rPr>
              <a:t> (jednotkové + integračné + mock)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Manuálne overenie</a:t>
            </a:r>
            <a:r>
              <a:rPr sz="1800" b="0">
                <a:solidFill>
                  <a:srgbClr val="1F2937"/>
                </a:solidFill>
                <a:latin typeface="Calibri"/>
              </a:rPr>
              <a:t> hlavných scenárov vrátane alternatívnych vetiev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Výkon: hlavné obrazovky </a:t>
            </a:r>
            <a:r>
              <a:rPr sz="1800" b="1">
                <a:solidFill>
                  <a:srgbClr val="1F2937"/>
                </a:solidFill>
                <a:latin typeface="Calibri"/>
              </a:rPr>
              <a:t>&lt; 500 ms</a:t>
            </a:r>
            <a:r>
              <a:rPr sz="1800" b="0">
                <a:solidFill>
                  <a:srgbClr val="1F2937"/>
                </a:solidFill>
                <a:latin typeface="Calibri"/>
              </a:rPr>
              <a:t> (pre jedného používateľa — limit prototypu)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Všetky funkcionálne požiadavky splnené</a:t>
            </a:r>
            <a:r>
              <a:rPr sz="1800" b="0">
                <a:solidFill>
                  <a:srgbClr val="1F2937"/>
                </a:solidFill>
                <a:latin typeface="Calibri"/>
              </a:rPr>
              <a:t> (Tabuľka 8)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21 — 486 passed (1413 assertions)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Výsledky a testovanie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Zhrnutie výsledkov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Funkčný </a:t>
            </a:r>
            <a:r>
              <a:rPr sz="1800" b="1">
                <a:solidFill>
                  <a:srgbClr val="1F2937"/>
                </a:solidFill>
                <a:latin typeface="Calibri"/>
              </a:rPr>
              <a:t>modulárny prototyp</a:t>
            </a:r>
            <a:r>
              <a:rPr sz="1800" b="0">
                <a:solidFill>
                  <a:srgbClr val="1F2937"/>
                </a:solidFill>
                <a:latin typeface="Calibri"/>
              </a:rPr>
              <a:t> spájajúci </a:t>
            </a:r>
            <a:r>
              <a:rPr sz="1800" b="1">
                <a:solidFill>
                  <a:srgbClr val="1F2937"/>
                </a:solidFill>
                <a:latin typeface="Calibri"/>
              </a:rPr>
              <a:t>úlohy ↔ vykázaný čas ↔ kapacitu</a:t>
            </a:r>
            <a:r>
              <a:rPr sz="1800" b="0">
                <a:solidFill>
                  <a:srgbClr val="1F2937"/>
                </a:solidFill>
                <a:latin typeface="Calibri"/>
              </a:rPr>
              <a:t> v jednej aplikácii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Manažérom dáva prehľad o </a:t>
            </a:r>
            <a:r>
              <a:rPr sz="1800" b="1">
                <a:solidFill>
                  <a:srgbClr val="1F2937"/>
                </a:solidFill>
                <a:latin typeface="Calibri"/>
              </a:rPr>
              <a:t>vyťažení, kapacitných rizikách</a:t>
            </a:r>
            <a:r>
              <a:rPr sz="1800" b="0">
                <a:solidFill>
                  <a:srgbClr val="1F2937"/>
                </a:solidFill>
                <a:latin typeface="Calibri"/>
              </a:rPr>
              <a:t> a </a:t>
            </a:r>
            <a:r>
              <a:rPr sz="1800" b="1">
                <a:solidFill>
                  <a:srgbClr val="1F2937"/>
                </a:solidFill>
                <a:latin typeface="Calibri"/>
              </a:rPr>
              <a:t>simuláciu scenárov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Čistá, rozšíriteľná architektúra</a:t>
            </a:r>
            <a:r>
              <a:rPr sz="1800" b="0">
                <a:solidFill>
                  <a:srgbClr val="1F2937"/>
                </a:solidFill>
                <a:latin typeface="Calibri"/>
              </a:rPr>
              <a:t> (príkaz make:module), dôkladne otestovaná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Základ pre </a:t>
            </a:r>
            <a:r>
              <a:rPr sz="1800" b="1">
                <a:solidFill>
                  <a:srgbClr val="1F2937"/>
                </a:solidFill>
                <a:latin typeface="Calibri"/>
              </a:rPr>
              <a:t>ďalší vývoj</a:t>
            </a:r>
            <a:r>
              <a:rPr sz="1800" b="0">
                <a:solidFill>
                  <a:srgbClr val="1F2937"/>
                </a:solidFill>
                <a:latin typeface="Calibri"/>
              </a:rPr>
              <a:t>: viac tímov, presnejšie predikcie, integrácie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Zhrnutie výsledkov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Záložné slajdy</a:t>
            </a:r>
          </a:p>
          <a:p>
            <a:pPr>
              <a:spcBef>
                <a:spcPts val="800"/>
              </a:spcBef>
            </a:pPr>
            <a:r>
              <a:rPr sz="1800" b="0">
                <a:solidFill>
                  <a:srgbClr val="D6E2F3"/>
                </a:solidFill>
                <a:latin typeface="Calibri"/>
              </a:rPr>
              <a:t>Odpovede na pripomienky oponenta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Otázka 1 — Prečo React, keď alternatívy majú viac vstavaných mechanizmov?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Smerovanie a formuláre sú v našej architektúre </a:t>
            </a:r>
            <a:r>
              <a:rPr sz="1800" b="1">
                <a:solidFill>
                  <a:srgbClr val="1F2937"/>
                </a:solidFill>
                <a:latin typeface="Calibri"/>
              </a:rPr>
              <a:t>zámerne na serveri</a:t>
            </a:r>
            <a:r>
              <a:rPr sz="1800" b="0">
                <a:solidFill>
                  <a:srgbClr val="1F2937"/>
                </a:solidFill>
                <a:latin typeface="Calibri"/>
              </a:rPr>
              <a:t> (hybridný prístup, Inertia.js — Tab. 5)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Smerovanie, validácia, autentifikácia aj autorizácia ostávajú v </a:t>
            </a:r>
            <a:r>
              <a:rPr sz="1800" b="1">
                <a:solidFill>
                  <a:srgbClr val="1F2937"/>
                </a:solidFill>
                <a:latin typeface="Calibri"/>
              </a:rPr>
              <a:t>Laraveli</a:t>
            </a:r>
            <a:r>
              <a:rPr sz="1800" b="0">
                <a:solidFill>
                  <a:srgbClr val="1F2937"/>
                </a:solidFill>
                <a:latin typeface="Calibri"/>
              </a:rPr>
              <a:t> → chýbajúce vstavané funkcie v Reacte </a:t>
            </a:r>
            <a:r>
              <a:rPr sz="1800" b="1">
                <a:solidFill>
                  <a:srgbClr val="1F2937"/>
                </a:solidFill>
                <a:latin typeface="Calibri"/>
              </a:rPr>
              <a:t>nie sú nevýhodou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Bez samostatného REST API a bez paralelného klientského routera</a:t>
            </a:r>
            <a:r>
              <a:rPr sz="1800" b="0">
                <a:solidFill>
                  <a:srgbClr val="1F2937"/>
                </a:solidFill>
                <a:latin typeface="Calibri"/>
              </a:rPr>
              <a:t> — žiadna duplicita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Angular/Vue s vlastným smerovaním by sa </a:t>
            </a:r>
            <a:r>
              <a:rPr sz="1800" b="1">
                <a:solidFill>
                  <a:srgbClr val="1F2937"/>
                </a:solidFill>
                <a:latin typeface="Calibri"/>
              </a:rPr>
              <a:t>prekrývali</a:t>
            </a:r>
            <a:r>
              <a:rPr sz="1800" b="0">
                <a:solidFill>
                  <a:srgbClr val="1F2937"/>
                </a:solidFill>
                <a:latin typeface="Calibri"/>
              </a:rPr>
              <a:t> s Laravel + Inertia (zbytočná réžia)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React zvolený pre: </a:t>
            </a:r>
            <a:r>
              <a:rPr sz="1800" b="1">
                <a:solidFill>
                  <a:srgbClr val="1F2937"/>
                </a:solidFill>
                <a:latin typeface="Calibri"/>
              </a:rPr>
              <a:t>najväčší ekosystém</a:t>
            </a:r>
            <a:r>
              <a:rPr sz="1800" b="0">
                <a:solidFill>
                  <a:srgbClr val="1F2937"/>
                </a:solidFill>
                <a:latin typeface="Calibri"/>
              </a:rPr>
              <a:t>, oficiálny </a:t>
            </a:r>
            <a:r>
              <a:rPr sz="1800" b="1">
                <a:solidFill>
                  <a:srgbClr val="1F2937"/>
                </a:solidFill>
                <a:latin typeface="Calibri"/>
              </a:rPr>
              <a:t>Inertia adaptér</a:t>
            </a:r>
            <a:r>
              <a:rPr sz="1800" b="0">
                <a:solidFill>
                  <a:srgbClr val="1F2937"/>
                </a:solidFill>
                <a:latin typeface="Calibri"/>
              </a:rPr>
              <a:t>, postupné zavádzanie (Tab. 3), </a:t>
            </a:r>
            <a:r>
              <a:rPr sz="1800" b="1">
                <a:solidFill>
                  <a:srgbClr val="1F2937"/>
                </a:solidFill>
                <a:latin typeface="Calibri"/>
              </a:rPr>
              <a:t>shadcn/ui + Tailwind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Pointa: Tab. 3 hodnotí knižnice </a:t>
            </a:r>
            <a:r>
              <a:rPr sz="1800" b="1">
                <a:solidFill>
                  <a:srgbClr val="1F2937"/>
                </a:solidFill>
                <a:latin typeface="Calibri"/>
              </a:rPr>
              <a:t>izolovane</a:t>
            </a:r>
            <a:r>
              <a:rPr sz="1800" b="0">
                <a:solidFill>
                  <a:srgbClr val="1F2937"/>
                </a:solidFill>
                <a:latin typeface="Calibri"/>
              </a:rPr>
              <a:t> — reálnym kritériom bola vhodnosť do </a:t>
            </a:r>
            <a:r>
              <a:rPr sz="1800" b="1">
                <a:solidFill>
                  <a:srgbClr val="1F2937"/>
                </a:solidFill>
                <a:latin typeface="Calibri"/>
              </a:rPr>
              <a:t>hybridného stacku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Otázka 1 — Prečo React, keď alternatívy majú viac vstavaných mechanizmov?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Otázka 2 — Ako overiť, že prototyp zodpovedá reálnemu MSP?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Pilotné nasadenie</a:t>
            </a:r>
            <a:r>
              <a:rPr sz="1800" b="0">
                <a:solidFill>
                  <a:srgbClr val="1F2937"/>
                </a:solidFill>
                <a:latin typeface="Calibri"/>
              </a:rPr>
              <a:t> u reálneho MSP (IT služby, ~10–20 ľudí) cez Docker, prevádzka niekoľko týždňov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Spätná väzba:</a:t>
            </a:r>
            <a:r>
              <a:rPr sz="1800" b="0">
                <a:solidFill>
                  <a:srgbClr val="1F2937"/>
                </a:solidFill>
                <a:latin typeface="Calibri"/>
              </a:rPr>
              <a:t> rozhovory (manažér + členovia), dotazník použiteľnosti </a:t>
            </a:r>
            <a:r>
              <a:rPr sz="1800" b="1">
                <a:solidFill>
                  <a:srgbClr val="1F2937"/>
                </a:solidFill>
                <a:latin typeface="Calibri"/>
              </a:rPr>
              <a:t>SUS</a:t>
            </a:r>
            <a:r>
              <a:rPr sz="1800" b="0">
                <a:solidFill>
                  <a:srgbClr val="1F2937"/>
                </a:solidFill>
                <a:latin typeface="Calibri"/>
              </a:rPr>
              <a:t>, pozorovanie plnenia úloh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Porovnať predpoklady</a:t>
            </a:r>
            <a:r>
              <a:rPr sz="1800" b="0">
                <a:solidFill>
                  <a:srgbClr val="1F2937"/>
                </a:solidFill>
                <a:latin typeface="Calibri"/>
              </a:rPr>
              <a:t> modelového podniku s reálnymi procesmi → medzery → iterácia požiadaviek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Metriky prínosu:</a:t>
            </a:r>
            <a:r>
              <a:rPr sz="1800" b="0">
                <a:solidFill>
                  <a:srgbClr val="1F2937"/>
                </a:solidFill>
                <a:latin typeface="Calibri"/>
              </a:rPr>
              <a:t> úspora času, pokles duplicity dát, miera adopcie, využitie manažérskych prehľadov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Generalizácia:</a:t>
            </a:r>
            <a:r>
              <a:rPr sz="1800" b="0">
                <a:solidFill>
                  <a:srgbClr val="1F2937"/>
                </a:solidFill>
                <a:latin typeface="Calibri"/>
              </a:rPr>
              <a:t> expertné rozhovory s viacerými MSP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make:module</a:t>
            </a:r>
            <a:r>
              <a:rPr sz="1800" b="0">
                <a:solidFill>
                  <a:srgbClr val="1F2937"/>
                </a:solidFill>
                <a:latin typeface="Calibri"/>
              </a:rPr>
              <a:t> umožňuje rýchlo prispôsobiť moduly podľa zistení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Otázka 2 — Ako overiť, že prototyp zodpovedá reálnemu MSP?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Otázka 3 — Simulácia a individuálna dostupnosť / súbežné alokácie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Súčasný stav:</a:t>
            </a:r>
            <a:r>
              <a:rPr sz="1800" b="0">
                <a:solidFill>
                  <a:srgbClr val="1F2937"/>
                </a:solidFill>
                <a:latin typeface="Calibri"/>
              </a:rPr>
              <a:t> ProjectSimulationService škáluje kapacitu </a:t>
            </a:r>
            <a:r>
              <a:rPr sz="1800" b="1">
                <a:solidFill>
                  <a:srgbClr val="1F2937"/>
                </a:solidFill>
                <a:latin typeface="Calibri"/>
              </a:rPr>
              <a:t>priemerom na osobu</a:t>
            </a:r>
            <a:r>
              <a:rPr sz="1800" b="0">
                <a:solidFill>
                  <a:srgbClr val="1F2937"/>
                </a:solidFill>
                <a:latin typeface="Calibri"/>
              </a:rPr>
              <a:t> (baseline × simTeam / baseTeam) — zámerné zjednodušenie pre what-if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1) Individuálne kapacity:</a:t>
            </a:r>
            <a:r>
              <a:rPr sz="1800" b="0">
                <a:solidFill>
                  <a:srgbClr val="1F2937"/>
                </a:solidFill>
                <a:latin typeface="Calibri"/>
              </a:rPr>
              <a:t> sčítať reálnu týždennú kapacitu konkrétnych členov z Employee_Capacities — metóda </a:t>
            </a:r>
            <a:r>
              <a:rPr sz="1800" b="1">
                <a:solidFill>
                  <a:srgbClr val="1F2937"/>
                </a:solidFill>
                <a:latin typeface="Calibri"/>
              </a:rPr>
              <a:t>weeklyContribution</a:t>
            </a:r>
            <a:r>
              <a:rPr sz="1800" b="0">
                <a:solidFill>
                  <a:srgbClr val="1F2937"/>
                </a:solidFill>
                <a:latin typeface="Calibri"/>
              </a:rPr>
              <a:t> už existuje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2) Súbežné alokácie:</a:t>
            </a:r>
            <a:r>
              <a:rPr sz="1800" b="0">
                <a:solidFill>
                  <a:srgbClr val="1F2937"/>
                </a:solidFill>
                <a:latin typeface="Calibri"/>
              </a:rPr>
              <a:t> odpočítať alokácie člena na iných projektoch — logika </a:t>
            </a:r>
            <a:r>
              <a:rPr sz="1800" b="1">
                <a:solidFill>
                  <a:srgbClr val="1F2937"/>
                </a:solidFill>
                <a:latin typeface="Calibri"/>
              </a:rPr>
              <a:t>buildProjectAvailabilityMap / hoursWithinWindow</a:t>
            </a:r>
            <a:r>
              <a:rPr sz="1800" b="0">
                <a:solidFill>
                  <a:srgbClr val="1F2937"/>
                </a:solidFill>
                <a:latin typeface="Calibri"/>
              </a:rPr>
              <a:t> už existuje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3) Časovo premenná dostupnosť:</a:t>
            </a:r>
            <a:r>
              <a:rPr sz="1800" b="0">
                <a:solidFill>
                  <a:srgbClr val="1F2937"/>
                </a:solidFill>
                <a:latin typeface="Calibri"/>
              </a:rPr>
              <a:t> kalendár (dovolenky, úväzok) → Cₜ ako funkcia týždňa; burn-down po týždňoch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4) Role / skilly:</a:t>
            </a:r>
            <a:r>
              <a:rPr sz="1800" b="0">
                <a:solidFill>
                  <a:srgbClr val="1F2937"/>
                </a:solidFill>
                <a:latin typeface="Calibri"/>
              </a:rPr>
              <a:t> váženie podľa toho, kto vie vykonať danú úlohu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Pointa: zmena je najmä v </a:t>
            </a:r>
            <a:r>
              <a:rPr sz="1800" b="1">
                <a:solidFill>
                  <a:srgbClr val="1F2937"/>
                </a:solidFill>
                <a:latin typeface="Calibri"/>
              </a:rPr>
              <a:t>logike kalkulátora, nie v schéme</a:t>
            </a:r>
            <a:r>
              <a:rPr sz="1800" b="0">
                <a:solidFill>
                  <a:srgbClr val="1F2937"/>
                </a:solidFill>
                <a:latin typeface="Calibri"/>
              </a:rPr>
              <a:t> — dáta to už podporujú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Otázka 3 — Simulácia a individuálna dostupnosť / súbežné alokácie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Pripravená reakcia — nezrovnalosť obr. 8 (DB diagram evidencie času)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Oponent správne našiel: </a:t>
            </a:r>
            <a:r>
              <a:rPr sz="1800" b="1">
                <a:solidFill>
                  <a:srgbClr val="1F2937"/>
                </a:solidFill>
                <a:latin typeface="Calibri"/>
              </a:rPr>
              <a:t>diagram</a:t>
            </a:r>
            <a:r>
              <a:rPr sz="1800" b="0">
                <a:solidFill>
                  <a:srgbClr val="1F2937"/>
                </a:solidFill>
                <a:latin typeface="Calibri"/>
              </a:rPr>
              <a:t> uvádza approval_status, approved_at, </a:t>
            </a:r>
            <a:r>
              <a:rPr sz="1800" b="1">
                <a:solidFill>
                  <a:srgbClr val="1F2937"/>
                </a:solidFill>
                <a:latin typeface="Calibri"/>
              </a:rPr>
              <a:t>rejection_status</a:t>
            </a:r>
            <a:r>
              <a:rPr sz="1800" b="0">
                <a:solidFill>
                  <a:srgbClr val="1F2937"/>
                </a:solidFill>
                <a:latin typeface="Calibri"/>
              </a:rPr>
              <a:t> a chýba approved_by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Reálna implementácia aj text</a:t>
            </a:r>
            <a:r>
              <a:rPr sz="1800" b="0">
                <a:solidFill>
                  <a:srgbClr val="1F2937"/>
                </a:solidFill>
                <a:latin typeface="Calibri"/>
              </a:rPr>
              <a:t> (§3.3.2, §4.2.3): </a:t>
            </a:r>
            <a:r>
              <a:rPr sz="1800" b="1">
                <a:solidFill>
                  <a:srgbClr val="1F2937"/>
                </a:solidFill>
                <a:latin typeface="Calibri"/>
              </a:rPr>
              <a:t>status</a:t>
            </a:r>
            <a:r>
              <a:rPr sz="1800" b="0">
                <a:solidFill>
                  <a:srgbClr val="1F2937"/>
                </a:solidFill>
                <a:latin typeface="Calibri"/>
              </a:rPr>
              <a:t> (pending / approved / rejected), </a:t>
            </a:r>
            <a:r>
              <a:rPr sz="1800" b="1">
                <a:solidFill>
                  <a:srgbClr val="1F2937"/>
                </a:solidFill>
                <a:latin typeface="Calibri"/>
              </a:rPr>
              <a:t>approved_by</a:t>
            </a:r>
            <a:r>
              <a:rPr sz="1800" b="0">
                <a:solidFill>
                  <a:srgbClr val="1F2937"/>
                </a:solidFill>
                <a:latin typeface="Calibri"/>
              </a:rPr>
              <a:t> (FK na Users), </a:t>
            </a:r>
            <a:r>
              <a:rPr sz="1800" b="1">
                <a:solidFill>
                  <a:srgbClr val="1F2937"/>
                </a:solidFill>
                <a:latin typeface="Calibri"/>
              </a:rPr>
              <a:t>approved_at</a:t>
            </a:r>
            <a:r>
              <a:rPr sz="1800" b="0">
                <a:solidFill>
                  <a:srgbClr val="1F2937"/>
                </a:solidFill>
                <a:latin typeface="Calibri"/>
              </a:rPr>
              <a:t>, </a:t>
            </a:r>
            <a:r>
              <a:rPr sz="1800" b="1">
                <a:solidFill>
                  <a:srgbClr val="1F2937"/>
                </a:solidFill>
                <a:latin typeface="Calibri"/>
              </a:rPr>
              <a:t>rejection_reason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Overené v migrácii </a:t>
            </a:r>
            <a:r>
              <a:rPr sz="1800" b="1">
                <a:solidFill>
                  <a:srgbClr val="1F2937"/>
                </a:solidFill>
                <a:latin typeface="Calibri"/>
              </a:rPr>
              <a:t>add_approval_fields_to_time_entries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Záver: nesúlad je </a:t>
            </a:r>
            <a:r>
              <a:rPr sz="1800" b="1">
                <a:solidFill>
                  <a:srgbClr val="1F2937"/>
                </a:solidFill>
                <a:latin typeface="Calibri"/>
              </a:rPr>
              <a:t>len v zastaranom diagrame</a:t>
            </a:r>
            <a:r>
              <a:rPr sz="1800" b="0">
                <a:solidFill>
                  <a:srgbClr val="1F2937"/>
                </a:solidFill>
                <a:latin typeface="Calibri"/>
              </a:rPr>
              <a:t>, nie v implementácii ani v texte — diagram opravím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Pripravená reakcia — nezrovnalosť obr. 8 (DB diagram evidencie času)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Doplnenie — detail testovania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35 testovacích súborov</a:t>
            </a:r>
            <a:r>
              <a:rPr sz="1800" b="0">
                <a:solidFill>
                  <a:srgbClr val="1F2937"/>
                </a:solidFill>
                <a:latin typeface="Calibri"/>
              </a:rPr>
              <a:t>; oblasti: používatelia, projekty, čas, kapacity, prepojenie modulov, manažérske rozhranie + schvaľovanie, výkazy + vyhľadávanie (Tab. 9)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Mock testy</a:t>
            </a:r>
            <a:r>
              <a:rPr sz="1800" b="0">
                <a:solidFill>
                  <a:srgbClr val="1F2937"/>
                </a:solidFill>
                <a:latin typeface="Calibri"/>
              </a:rPr>
              <a:t> (PHPUnit + Mockery) izolujú biznis logiku cez rozhrania repository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Notification::fake()</a:t>
            </a:r>
            <a:r>
              <a:rPr sz="1800" b="0">
                <a:solidFill>
                  <a:srgbClr val="1F2937"/>
                </a:solidFill>
                <a:latin typeface="Calibri"/>
              </a:rPr>
              <a:t> overuje notifikácie bez reálneho odoslania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Integračné testy overujú </a:t>
            </a:r>
            <a:r>
              <a:rPr sz="1800" b="1">
                <a:solidFill>
                  <a:srgbClr val="1F2937"/>
                </a:solidFill>
                <a:latin typeface="Calibri"/>
              </a:rPr>
              <a:t>väzby medzi modulmi</a:t>
            </a:r>
            <a:r>
              <a:rPr sz="1800" b="0">
                <a:solidFill>
                  <a:srgbClr val="1F2937"/>
                </a:solidFill>
                <a:latin typeface="Calibri"/>
              </a:rPr>
              <a:t> (čas → hodiny úloh → alokácie)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Doplnenie — detail testovania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4F9C"/>
                </a:solidFill>
                <a:latin typeface="Calibri"/>
              </a:rPr>
              <a:t>Doplnenie — komunikácia medzi modulmi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2011680" cy="38100"/>
          </a:xfrm>
          <a:prstGeom prst="rect">
            <a:avLst/>
          </a:prstGeom>
          <a:solidFill>
            <a:srgbClr val="1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Moduly komunikujú cez rozhrania: </a:t>
            </a:r>
            <a:r>
              <a:rPr sz="1800" b="1">
                <a:solidFill>
                  <a:srgbClr val="1F2937"/>
                </a:solidFill>
                <a:latin typeface="Calibri"/>
              </a:rPr>
              <a:t>IUserService, IProjectService, ITimeEntryService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1">
                <a:solidFill>
                  <a:srgbClr val="1F2937"/>
                </a:solidFill>
                <a:latin typeface="Calibri"/>
              </a:rPr>
              <a:t>Dependency injection</a:t>
            </a:r>
            <a:r>
              <a:rPr sz="1800" b="0">
                <a:solidFill>
                  <a:srgbClr val="1F2937"/>
                </a:solidFill>
                <a:latin typeface="Calibri"/>
              </a:rPr>
              <a:t> + service container Laravelu dosadzuje konkrétne implementácie</a:t>
            </a:r>
          </a:p>
          <a:p>
            <a:pPr>
              <a:lnSpc>
                <a:spcPct val="103000"/>
              </a:lnSpc>
              <a:spcAft>
                <a:spcPts val="1000"/>
              </a:spcAft>
            </a:pPr>
            <a:r>
              <a:rPr sz="1800" b="1">
                <a:solidFill>
                  <a:srgbClr val="1B4F9C"/>
                </a:solidFill>
                <a:latin typeface="Calibri"/>
              </a:rPr>
              <a:t>•  </a:t>
            </a:r>
            <a:r>
              <a:rPr sz="1800" b="0">
                <a:solidFill>
                  <a:srgbClr val="1F2937"/>
                </a:solidFill>
                <a:latin typeface="Calibri"/>
              </a:rPr>
              <a:t>Znižuje previazanosť, zjednodušuje </a:t>
            </a:r>
            <a:r>
              <a:rPr sz="1800" b="1">
                <a:solidFill>
                  <a:srgbClr val="1F2937"/>
                </a:solidFill>
                <a:latin typeface="Calibri"/>
              </a:rPr>
              <a:t>testovanie a rozširovanie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737360"/>
            <a:ext cx="4434840" cy="4023360"/>
          </a:xfrm>
          <a:prstGeom prst="roundRect">
            <a:avLst/>
          </a:prstGeom>
          <a:solidFill>
            <a:srgbClr val="ECF1F8"/>
          </a:solidFill>
          <a:ln w="12700">
            <a:solidFill>
              <a:srgbClr val="B9C7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B4F9C"/>
                </a:solidFill>
                <a:latin typeface="Calibri"/>
              </a:rPr>
              <a:t>Obr. 11 — komponentový diagram</a:t>
            </a:r>
          </a:p>
          <a:p>
            <a:pPr algn="ctr"/>
            <a:r>
              <a:rPr sz="1000" b="0">
                <a:solidFill>
                  <a:srgbClr val="5B6670"/>
                </a:solidFill>
                <a:latin typeface="Calibri"/>
              </a:rPr>
              <a:t>vlož screenshot / obrázok z práce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B6670"/>
                </a:solidFill>
                <a:latin typeface="Calibri"/>
              </a:rPr>
              <a:t>Doplnenie — komunikácia medzi modulmi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19088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B667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